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1db0d4d0c14715" /><Relationship Type="http://schemas.openxmlformats.org/officeDocument/2006/relationships/extended-properties" Target="/docProps/app.xml" Id="R4fa393cf65ff4ba2" /><Relationship Type="http://schemas.openxmlformats.org/officeDocument/2006/relationships/officeDocument" Target="/ppt/presentation.xml" Id="Rd0c5706ef5ff47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34a7923ea47a9"/>
  </p:sldMasterIdLst>
  <p:notesMasterIdLst>
    <p:notesMasterId xmlns:r="http://schemas.openxmlformats.org/officeDocument/2006/relationships" r:id="R387d846749ef442e"/>
  </p:notesMasterIdLst>
  <p:sldIdLst>
    <p:sldId xmlns:r="http://schemas.openxmlformats.org/officeDocument/2006/relationships" id="256" r:id="Rcad9f2e9097b4ae5"/>
    <p:sldId xmlns:r="http://schemas.openxmlformats.org/officeDocument/2006/relationships" id="257" r:id="Rd4524e0b3a9642ad"/>
    <p:sldId xmlns:r="http://schemas.openxmlformats.org/officeDocument/2006/relationships" id="258" r:id="Rbb8c48ec056c4736"/>
    <p:sldId xmlns:r="http://schemas.openxmlformats.org/officeDocument/2006/relationships" id="259" r:id="Reafb4244e3dd45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aaf69943f4203" /><Relationship Type="http://schemas.openxmlformats.org/officeDocument/2006/relationships/slideMaster" Target="/ppt/slideMasters/slideMaster1.xml" Id="R7a534a7923ea47a9" /><Relationship Type="http://schemas.openxmlformats.org/officeDocument/2006/relationships/notesMaster" Target="/ppt/notesMasters/notesMaster1.xml" Id="R387d846749ef442e" /><Relationship Type="http://schemas.openxmlformats.org/officeDocument/2006/relationships/presProps" Target="/ppt/presProps.xml" Id="R5322b3c62c8445a6" /><Relationship Type="http://schemas.openxmlformats.org/officeDocument/2006/relationships/tableStyles" Target="/ppt/tableStyles.xml" Id="R082c86da19a14e34" /><Relationship Type="http://schemas.openxmlformats.org/officeDocument/2006/relationships/slide" Target="/ppt/slides/slide1.xml" Id="Rcad9f2e9097b4ae5" /><Relationship Type="http://schemas.openxmlformats.org/officeDocument/2006/relationships/slide" Target="/ppt/slides/slide2.xml" Id="Rd4524e0b3a9642ad" /><Relationship Type="http://schemas.openxmlformats.org/officeDocument/2006/relationships/slide" Target="/ppt/slides/slide3.xml" Id="Rbb8c48ec056c4736" /><Relationship Type="http://schemas.openxmlformats.org/officeDocument/2006/relationships/slide" Target="/ppt/slides/slide4.xml" Id="Reafb4244e3dd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10aceb115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b76ba1f2041e4" /><Relationship Type="http://schemas.openxmlformats.org/officeDocument/2006/relationships/notesMaster" Target="/ppt/notesMasters/notesMaster1.xml" Id="Re317a5ed729f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4f2d6f30ee4697" /><Relationship Type="http://schemas.openxmlformats.org/officeDocument/2006/relationships/notesMaster" Target="/ppt/notesMasters/notesMaster1.xml" Id="R166cd993a8f0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2d0f9a61a64703" /><Relationship Type="http://schemas.openxmlformats.org/officeDocument/2006/relationships/notesMaster" Target="/ppt/notesMasters/notesMaster1.xml" Id="R4a5ca8ccd1ce40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119d49e8940c9" /><Relationship Type="http://schemas.openxmlformats.org/officeDocument/2006/relationships/notesMaster" Target="/ppt/notesMasters/notesMaster1.xml" Id="R3a58050da00a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612ed985649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f11a3e7d64c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2a786cffe4c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1429159a745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507f15c6049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d7ac110ca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2929C-51DC-4E4A-BC02-284E512DA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D50F81-7501-4322-B82F-61701818B3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4DBBCC-73AF-4E68-815F-1DF7671DC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B1A8D-DECE-487A-8ED0-13D5695A97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79AD7D-AF98-4861-8F9D-C71461E331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BB6570-D91F-4EB4-A98C-7ED55A3D6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AFF746-1206-47BC-8FA0-E48A287066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6FE066-8160-4168-BFA5-279A49589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E5FA29-58E7-43F3-B524-4A0968D17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3DDC83-1F33-47DB-9FF8-C39028A30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3be7bfc76a48d8" /><Relationship Type="http://schemas.openxmlformats.org/officeDocument/2006/relationships/slideLayout" Target="/ppt/slideLayouts/slideLayout1.xml" Id="Rbc00ae0fc4f348b2" /><Relationship Type="http://schemas.openxmlformats.org/officeDocument/2006/relationships/slideLayout" Target="/ppt/slideLayouts/slideLayout2.xml" Id="R7d0975a7b789426e" /><Relationship Type="http://schemas.openxmlformats.org/officeDocument/2006/relationships/slideLayout" Target="/ppt/slideLayouts/slideLayout3.xml" Id="R22eedc0b6f474d5c" /><Relationship Type="http://schemas.openxmlformats.org/officeDocument/2006/relationships/slideLayout" Target="/ppt/slideLayouts/slideLayout4.xml" Id="R2646ea9293ad471a" /><Relationship Type="http://schemas.openxmlformats.org/officeDocument/2006/relationships/slideLayout" Target="/ppt/slideLayouts/slideLayout5.xml" Id="R7736a7ef003840a3" /><Relationship Type="http://schemas.openxmlformats.org/officeDocument/2006/relationships/slideLayout" Target="/ppt/slideLayouts/slideLayout6.xml" Id="R2de6f1e4d877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00ae0fc4f348b2"/>
    <p:sldLayoutId xmlns:r="http://schemas.openxmlformats.org/officeDocument/2006/relationships" id="2147483650" r:id="R7d0975a7b789426e"/>
    <p:sldLayoutId xmlns:r="http://schemas.openxmlformats.org/officeDocument/2006/relationships" id="2147483651" r:id="R22eedc0b6f474d5c"/>
    <p:sldLayoutId xmlns:r="http://schemas.openxmlformats.org/officeDocument/2006/relationships" id="2147483652" r:id="R2646ea9293ad471a"/>
    <p:sldLayoutId xmlns:r="http://schemas.openxmlformats.org/officeDocument/2006/relationships" id="2147483653" r:id="R7736a7ef003840a3"/>
    <p:sldLayoutId xmlns:r="http://schemas.openxmlformats.org/officeDocument/2006/relationships" id="2147483654" r:id="R2de6f1e4d877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e433ad6d14d5a" /><Relationship Type="http://schemas.openxmlformats.org/officeDocument/2006/relationships/notesSlide" Target="/ppt/notesSlides/notesSlide1.xml" Id="Rdecb93145f93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1f0f323304d05" /><Relationship Type="http://schemas.openxmlformats.org/officeDocument/2006/relationships/notesSlide" Target="/ppt/notesSlides/notesSlide2.xml" Id="R64a4fd5d612646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d99cd6fad4da3" /><Relationship Type="http://schemas.openxmlformats.org/officeDocument/2006/relationships/notesSlide" Target="/ppt/notesSlides/notesSlide3.xml" Id="R89802ac56bb844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1ba1a8cbb4451" /><Relationship Type="http://schemas.openxmlformats.org/officeDocument/2006/relationships/notesSlide" Target="/ppt/notesSlides/notesSlide4.xml" Id="R7cb77abcc53249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82C32-2804-4337-9BB0-D041CB6D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36F45"/>
                </a:solidFill>
              </a:defRPr>
            </a:pPr>
            <a:r>
              <a:rPr sz="1725" b="1">
                <a:solidFill>
                  <a:srgbClr val="E36F45"/>
                </a:solidFill>
              </a:rPr>
              <a:t>PROJECT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BF94-B603-480C-9BB4-F198A3E3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5025" b="1">
                <a:solidFill>
                  <a:srgbClr val="FFFFFF"/>
                </a:solidFill>
              </a:defRPr>
            </a:pPr>
            <a:r>
              <a:rPr sz="5025" b="1">
                <a:solidFill>
                  <a:srgbClr val="FFFFFF"/>
                </a:solidFill>
              </a:rPr>
              <a:t>Efficient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E74F3-63A4-4904-A8D5-B9B331C8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DBE3ED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DBE3ED"/>
                </a:solidFill>
              </a:defRPr>
            </a:pPr>
            <a:r>
              <a:rPr sz="3150" b="0">
                <a:solidFill>
                  <a:srgbClr val="DBE3ED"/>
                </a:solidFill>
              </a:rPr>
              <a:t>on structured documents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6B8C-EAC1-4B27-B74D-76BBC2B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952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FC0D5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FC0D5"/>
                </a:solidFill>
              </a:defRPr>
            </a:pPr>
            <a:r>
              <a:rPr sz="2025" b="0">
                <a:solidFill>
                  <a:srgbClr val="AFC0D5"/>
                </a:solidFill>
              </a:rPr>
              <a:t>Markdown and Python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B19E0-6F7B-46DC-8F1E-C9DBBBA4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Siddharth Kumar   2023522</a:t>
            </a:r>
          </a:p>
        </p:txBody>
      </p:sp>
    </p:spTree>
    <p:extLst>
      <p:ext uri="{BB962C8B-B14F-4D97-AF65-F5344CB8AC3E}">
        <p14:creationId xmlns:p14="http://schemas.microsoft.com/office/powerpoint/2010/main" val="1305703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B2AFD-7619-4326-AB5D-A9B4C238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36F45"/>
                </a:solidFill>
              </a:defRPr>
            </a:pPr>
            <a:r>
              <a:rPr sz="1275" b="1">
                <a:solidFill>
                  <a:srgbClr val="E36F45"/>
                </a:solidFill>
              </a:rPr>
              <a:t>DOMAIN 1    MARKDOWN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ECC6C-4CCC-4E3B-B94A-C535CC2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2213B"/>
                </a:solidFill>
              </a:defRPr>
            </a:pPr>
            <a:r>
              <a:rPr sz="3225" b="1">
                <a:solidFill>
                  <a:srgbClr val="12213B"/>
                </a:solidFill>
              </a:rPr>
              <a:t>Markdown sections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C479A-3C85-41CF-B063-D6C2AB1B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Five CommonMark documents, each below 2,000 prefill tokens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7C124-E6E7-4449-8C1D-8E5A21919E91}"/>
              </a:ext>
            </a:extLst>
          </p:cNvPr>
          <p:cNvGraphicFramePr/>
          <p:nvPr/>
        </p:nvGraphicFramePr>
        <p:xfrm>
          <a:off xmlns:a="http://schemas.openxmlformats.org/drawingml/2006/main" x="723900" y="1924050"/>
          <a:ext xmlns:a="http://schemas.openxmlformats.org/drawingml/2006/main" cx="1074420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6400"/>
                <a:gridCol w="790575"/>
                <a:gridCol w="809625"/>
                <a:gridCol w="1571625"/>
                <a:gridCol w="1238250"/>
                <a:gridCol w="1066800"/>
                <a:gridCol w="1524000"/>
                <a:gridCol w="2066925"/>
              </a:tblGrid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 / B tokens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KV drop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CPU total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Release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60 / 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26.4%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57.3%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1,795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49 / 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24.4%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1,891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Incident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 / 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26.8%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54.8%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1,729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50 / 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28.0%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1,737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Storage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 / 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20.9%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1,976 ms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6D572-438A-4399-9060-FC1DCB5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3B"/>
                </a:solidFill>
              </a:defRPr>
            </a:pPr>
            <a:r>
              <a:rPr sz="1875" b="1">
                <a:solidFill>
                  <a:srgbClr val="12213B"/>
                </a:solidFill>
              </a:rPr>
              <a:t>20 / 20 exact comparisons. All five B edits and evictions preserve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63AAD-432F-4BA2-83EE-B2013609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Median CPU total: 1,795 ms. Pure syntax: 105 / 416 source tokens (25.2%).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959AC-A642-468D-841A-BCB45AC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E"/>
                </a:solidFill>
              </a:defRPr>
            </a:pPr>
            <a:r>
              <a:rPr sz="1125" b="0">
                <a:solidFill>
                  <a:srgbClr val="53657E"/>
                </a:solidFill>
              </a:rPr>
              <a:t>CPU total excludes model load. Storage uses a 3-token answer limit; other cases use 16.</a:t>
            </a:r>
          </a:p>
        </p:txBody>
      </p:sp>
    </p:spTree>
    <p:extLst>
      <p:ext uri="{BB962C8B-B14F-4D97-AF65-F5344CB8AC3E}">
        <p14:creationId xmlns:p14="http://schemas.microsoft.com/office/powerpoint/2010/main" val="578386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7FF6A-97A8-4BAA-963E-0F8C4DF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36F45"/>
                </a:solidFill>
              </a:defRPr>
            </a:pPr>
            <a:r>
              <a:rPr sz="1275" b="1">
                <a:solidFill>
                  <a:srgbClr val="E36F45"/>
                </a:solidFill>
              </a:rPr>
              <a:t>DOMAIN 2    PYTHON SOURCE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1B1BB-A72F-47E9-9B15-97EFCE82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2213B"/>
                </a:solidFill>
              </a:defRPr>
            </a:pPr>
            <a:r>
              <a:rPr sz="3225" b="1">
                <a:solidFill>
                  <a:srgbClr val="12213B"/>
                </a:solidFill>
              </a:rPr>
              <a:t>Functions and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D1B94-F1AF-4E98-9F68-971C0E43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Five Tree-sitter modules, each below 2,000 prefill tokens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350CD-1FFC-4368-AD15-6D9C76DA5E74}"/>
              </a:ext>
            </a:extLst>
          </p:cNvPr>
          <p:cNvGraphicFramePr/>
          <p:nvPr/>
        </p:nvGraphicFramePr>
        <p:xfrm>
          <a:off xmlns:a="http://schemas.openxmlformats.org/drawingml/2006/main" x="723900" y="1924050"/>
          <a:ext xmlns:a="http://schemas.openxmlformats.org/drawingml/2006/main" cx="1074420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6400"/>
                <a:gridCol w="790575"/>
                <a:gridCol w="809625"/>
                <a:gridCol w="1571625"/>
                <a:gridCol w="1238250"/>
                <a:gridCol w="1066800"/>
                <a:gridCol w="1524000"/>
                <a:gridCol w="2066925"/>
              </a:tblGrid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 / B tokens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KV drop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CPU total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Pricing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45 / 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47.4%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1,869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Accounts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46 / 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56.1%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45.8%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1,761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Inventory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56 / 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1,680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Alerts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52 / 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50.6%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49.4%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1,842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Exports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44 / 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48.1%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44.7%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2,185 ms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C8AD9-7F39-4DB9-83ED-D273F34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3B"/>
                </a:solidFill>
              </a:defRPr>
            </a:pPr>
            <a:r>
              <a:rPr sz="1875" b="1">
                <a:solidFill>
                  <a:srgbClr val="12213B"/>
                </a:solidFill>
              </a:rPr>
              <a:t>20 / 20 exact comparisons. All five B edits and evictions preserve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1D447-4BA1-41A4-AD72-023494C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Median CPU total: 1,842 ms. Pure syntax: 202 / 394 source tokens (51.3%).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678E-5FC7-40EA-93CE-FA87590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E"/>
                </a:solidFill>
              </a:defRPr>
            </a:pPr>
            <a:r>
              <a:rPr sz="1125" b="0">
                <a:solidFill>
                  <a:srgbClr val="53657E"/>
                </a:solidFill>
              </a:rPr>
              <a:t>CPU total excludes model load. Imports and class context remain shared.</a:t>
            </a:r>
          </a:p>
        </p:txBody>
      </p:sp>
    </p:spTree>
    <p:extLst>
      <p:ext uri="{BB962C8B-B14F-4D97-AF65-F5344CB8AC3E}">
        <p14:creationId xmlns:p14="http://schemas.microsoft.com/office/powerpoint/2010/main" val="1206890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23131-2054-414E-8DBB-1157907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77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36F45"/>
                </a:solidFill>
              </a:defRPr>
            </a:pPr>
            <a:r>
              <a:rPr sz="1425" b="1">
                <a:solidFill>
                  <a:srgbClr val="E36F45"/>
                </a:solidFill>
              </a:rPr>
              <a:t>INDIVIDUAL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206B4-BE6A-43B8-B89E-96F798D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BDFA-2005-402D-86B9-59A1809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CE5EF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CE5EF"/>
                </a:solidFill>
              </a:defRPr>
            </a:pPr>
            <a:r>
              <a:rPr sz="2550" b="0">
                <a:solidFill>
                  <a:srgbClr val="DCE5EF"/>
                </a:solidFill>
              </a:rPr>
              <a:t>github.com/secureswim/efficient-attention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4EEAD-E04B-4574-8C17-576B431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6C7DA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C7DA"/>
                </a:solidFill>
              </a:defRPr>
            </a:pPr>
            <a:r>
              <a:rPr sz="2025" b="0">
                <a:solidFill>
                  <a:srgbClr val="B6C7DA"/>
                </a:solidFill>
              </a:rPr>
              <a:t>README includes the full report, setup steps, and measured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B7C4A-85B1-46FE-80BE-3BC5876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Submit this link with the matching project ZIP.</a:t>
            </a:r>
          </a:p>
        </p:txBody>
      </p:sp>
    </p:spTree>
    <p:extLst>
      <p:ext uri="{BB962C8B-B14F-4D97-AF65-F5344CB8AC3E}">
        <p14:creationId xmlns:p14="http://schemas.microsoft.com/office/powerpoint/2010/main" val="1778994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2026-10-16T11:38:32.8960000Z</dcterms:created>
  <dcterms:modified xsi:type="dcterms:W3CDTF">2026-10-16T11:38:32.8960000Z</dcterms:modified>
</coreProperties>
</file>